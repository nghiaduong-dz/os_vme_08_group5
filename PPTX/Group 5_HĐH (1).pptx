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 Bold" charset="1" panose="00000800000000000000"/>
      <p:regular r:id="rId28"/>
    </p:embeddedFont>
    <p:embeddedFont>
      <p:font typeface="Poppins Medium" charset="1" panose="00000600000000000000"/>
      <p:regular r:id="rId29"/>
    </p:embeddedFont>
    <p:embeddedFont>
      <p:font typeface="Raleway Bold" charset="1" panose="00000000000000000000"/>
      <p:regular r:id="rId30"/>
    </p:embeddedFont>
    <p:embeddedFont>
      <p:font typeface="Raleway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5755" y="709283"/>
            <a:ext cx="18939059" cy="2830224"/>
            <a:chOff x="0" y="0"/>
            <a:chExt cx="4988065" cy="745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8065" cy="745409"/>
            </a:xfrm>
            <a:custGeom>
              <a:avLst/>
              <a:gdLst/>
              <a:ahLst/>
              <a:cxnLst/>
              <a:rect r="r" b="b" t="t" l="l"/>
              <a:pathLst>
                <a:path h="745409" w="4988065">
                  <a:moveTo>
                    <a:pt x="0" y="0"/>
                  </a:moveTo>
                  <a:lnTo>
                    <a:pt x="4988065" y="0"/>
                  </a:lnTo>
                  <a:lnTo>
                    <a:pt x="4988065" y="745409"/>
                  </a:lnTo>
                  <a:lnTo>
                    <a:pt x="0" y="74540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988065" cy="716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56933" y="1709455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417225" y="61722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04501" y="1212325"/>
            <a:ext cx="7862350" cy="7862350"/>
          </a:xfrm>
          <a:custGeom>
            <a:avLst/>
            <a:gdLst/>
            <a:ahLst/>
            <a:cxnLst/>
            <a:rect r="r" b="b" t="t" l="l"/>
            <a:pathLst>
              <a:path h="7862350" w="7862350">
                <a:moveTo>
                  <a:pt x="0" y="0"/>
                </a:moveTo>
                <a:lnTo>
                  <a:pt x="7862350" y="0"/>
                </a:lnTo>
                <a:lnTo>
                  <a:pt x="7862350" y="7862350"/>
                </a:lnTo>
                <a:lnTo>
                  <a:pt x="0" y="7862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10810" y="-155024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2540" y="737858"/>
            <a:ext cx="11924685" cy="265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6464" b="true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Virtual Memory Page Replacement Simulator</a:t>
            </a:r>
          </a:p>
          <a:p>
            <a:pPr algn="l">
              <a:lnSpc>
                <a:spcPts val="6723"/>
              </a:lnSpc>
              <a:spcBef>
                <a:spcPct val="0"/>
              </a:spcBef>
            </a:pPr>
            <a:r>
              <a:rPr lang="en-US" b="true" sz="6464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(FIFO, LRU, OPT)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263774" y="-842039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2445" y="4024869"/>
            <a:ext cx="10881275" cy="457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1"/>
              </a:lnSpc>
            </a:pPr>
            <a:r>
              <a:rPr lang="en-US" sz="5693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Subject: Operating System</a:t>
            </a:r>
          </a:p>
          <a:p>
            <a:pPr algn="l">
              <a:lnSpc>
                <a:spcPts val="5921"/>
              </a:lnSpc>
            </a:pPr>
            <a:r>
              <a:rPr lang="en-US" sz="5693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Group 5</a:t>
            </a:r>
          </a:p>
          <a:p>
            <a:pPr algn="l">
              <a:lnSpc>
                <a:spcPts val="5921"/>
              </a:lnSpc>
            </a:pPr>
            <a:r>
              <a:rPr lang="en-US" sz="5693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University of Transport Ho Chi Minh City</a:t>
            </a:r>
          </a:p>
          <a:p>
            <a:pPr algn="l">
              <a:lnSpc>
                <a:spcPts val="5921"/>
              </a:lnSpc>
            </a:pPr>
            <a:r>
              <a:rPr lang="en-US" sz="5693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Lecturer: Mai Ngoc Chau</a:t>
            </a:r>
          </a:p>
          <a:p>
            <a:pPr algn="l">
              <a:lnSpc>
                <a:spcPts val="5921"/>
              </a:lnSpc>
              <a:spcBef>
                <a:spcPct val="0"/>
              </a:spcBef>
            </a:pPr>
            <a:r>
              <a:rPr lang="en-US" b="true" sz="5693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45531" y="1638545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1" y="0"/>
                </a:lnTo>
                <a:lnTo>
                  <a:pt x="3083621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95590" y="5254128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02308" y="1066800"/>
            <a:ext cx="6483384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8650" y="5341990"/>
            <a:ext cx="5163575" cy="59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Kim Nhut Hoang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0846" y="2949211"/>
            <a:ext cx="5451009" cy="59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Duong Trong</a:t>
            </a: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Ng</a:t>
            </a: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6999" y="7734769"/>
            <a:ext cx="6298183" cy="59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Nguyen Thi Xuan Tuyen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6999" y="5341990"/>
            <a:ext cx="4543322" cy="59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Phan Dinh</a:t>
            </a: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P</a:t>
            </a: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48650" y="7734769"/>
            <a:ext cx="4376913" cy="59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 Minh</a:t>
            </a: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</a:t>
            </a: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huan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48650" y="2950425"/>
            <a:ext cx="5617418" cy="59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Nguyen Thanh Tuan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642300"/>
            <a:ext cx="18288000" cy="1464829"/>
            <a:chOff x="0" y="0"/>
            <a:chExt cx="4816593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158001" y="6463808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8" y="0"/>
                </a:lnTo>
                <a:lnTo>
                  <a:pt x="677586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49984" y="3988327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49984" y="5143500"/>
            <a:ext cx="357065" cy="357065"/>
            <a:chOff x="0" y="0"/>
            <a:chExt cx="94042" cy="940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49984" y="7520351"/>
            <a:ext cx="357065" cy="357065"/>
            <a:chOff x="0" y="0"/>
            <a:chExt cx="94042" cy="940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87355" y="3832926"/>
            <a:ext cx="10201237" cy="47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Sometimes RAM is not enough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ograms may be too large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Virtual memory helps solve this problem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It lets the system run more smoothly</a:t>
            </a:r>
          </a:p>
          <a:p>
            <a:pPr algn="l">
              <a:lnSpc>
                <a:spcPts val="4683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01714" y="940029"/>
            <a:ext cx="8542286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9984" y="2486174"/>
            <a:ext cx="10631481" cy="79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</a:pPr>
            <a:r>
              <a:rPr lang="en-US" sz="485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Why do we need Virtual Memory?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849984" y="6363186"/>
            <a:ext cx="357065" cy="357065"/>
            <a:chOff x="0" y="0"/>
            <a:chExt cx="94042" cy="940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45531" y="1638545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1" y="0"/>
                </a:lnTo>
                <a:lnTo>
                  <a:pt x="3083621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95590" y="5254128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5721" y="3638607"/>
            <a:ext cx="11184564" cy="534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Programs need more memory than available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Missing page → page fault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Memory is limited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need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 way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to replace pages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66800"/>
            <a:ext cx="9100548" cy="172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What problem are we solving?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27207" y="3831319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0967" y="4998008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0967" y="7336513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0967" y="6167261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26134" y="4127392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926134" y="6481662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26134" y="5305447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6134" y="7691482"/>
            <a:ext cx="357065" cy="357065"/>
            <a:chOff x="0" y="0"/>
            <a:chExt cx="94042" cy="940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536389" y="3969494"/>
            <a:ext cx="9823034" cy="534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way to extend RAM using disk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Only needed pages are loaded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Saves memory space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Helps run multiple programs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326429"/>
            <a:ext cx="10471955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Virtual Memory?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7584" y="3036740"/>
            <a:ext cx="9823034" cy="47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Happens when a page is not in RAM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system must load it from disk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his takes extra time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Too many faults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slow down the system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98726" y="3239460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98726" y="4397827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98726" y="5556195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98726" y="6777497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1066800"/>
            <a:ext cx="8919011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Page Fault?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40165" y="3891521"/>
            <a:ext cx="9823034" cy="47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FIFO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LRU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oal: re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uce page faults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2292214" y="4049916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92214" y="5272656"/>
            <a:ext cx="357065" cy="357065"/>
            <a:chOff x="0" y="0"/>
            <a:chExt cx="94042" cy="940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92214" y="6438607"/>
            <a:ext cx="357065" cy="357065"/>
            <a:chOff x="0" y="0"/>
            <a:chExt cx="94042" cy="940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92214" y="7604558"/>
            <a:ext cx="357065" cy="357065"/>
            <a:chOff x="0" y="0"/>
            <a:chExt cx="94042" cy="940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1714" y="1326429"/>
            <a:ext cx="11380633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What algorithms are used?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05897" y="1234299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5" y="0"/>
                </a:lnTo>
                <a:lnTo>
                  <a:pt x="2232435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2011" y="6047021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45095" y="3497859"/>
            <a:ext cx="357065" cy="357065"/>
            <a:chOff x="0" y="0"/>
            <a:chExt cx="94042" cy="94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066800"/>
            <a:ext cx="7724232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FIFO?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0965" y="3356322"/>
            <a:ext cx="9823034" cy="534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FIFO means First In First Out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oldest page is removed first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Works like a queue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Very simple idea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945095" y="7054229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45095" y="4682749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45095" y="5868489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01714" y="1326429"/>
            <a:ext cx="11380633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How does FIFO work?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94781" y="3915001"/>
            <a:ext cx="10897130" cy="534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Add pages one by one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When mem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ory is full → remove ol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 page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Insert the new page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Keep counting page faults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2159313" y="4049916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59313" y="5231904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59313" y="6427168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59313" y="7623508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66800"/>
            <a:ext cx="7724232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FIFO Pros and Cons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31063" y="3030357"/>
            <a:ext cx="9823034" cy="593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Easy to implement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Uses very little resources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But may remove important pages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sually has high page faults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Result: 15 page faults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977258" y="6734894"/>
            <a:ext cx="357065" cy="357065"/>
            <a:chOff x="0" y="0"/>
            <a:chExt cx="94042" cy="94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77258" y="7939683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77258" y="3198270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77258" y="4364959"/>
            <a:ext cx="357065" cy="357065"/>
            <a:chOff x="0" y="0"/>
            <a:chExt cx="94042" cy="940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77258" y="5569749"/>
            <a:ext cx="357065" cy="357065"/>
            <a:chOff x="0" y="0"/>
            <a:chExt cx="94042" cy="940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011" y="6047021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5897" y="1234299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5" y="0"/>
                </a:lnTo>
                <a:lnTo>
                  <a:pt x="2232435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01714" y="1326429"/>
            <a:ext cx="11380633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LRU?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6944" y="3651597"/>
            <a:ext cx="12334301" cy="47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LRU means Least Rec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entl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 Used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Removes the page not used for the longest time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Focus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 on recent activity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Smarter than FIFO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629696" y="3766424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9696" y="4971214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29696" y="6172725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9696" y="7380482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8631919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How does LRU work?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2758" y="3381932"/>
            <a:ext cx="9823034" cy="47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Track when each page is used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Find the least recently used page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lace it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Update usage after each step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165293" y="5914617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65293" y="7077944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65293" y="3561423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65293" y="4786435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01714" y="1326429"/>
            <a:ext cx="11380633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LRU Pros and Cons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63778" y="3324451"/>
            <a:ext cx="12334301" cy="593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Fewer page faults 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FIFO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Uses memory more efficiently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Needs extra tracking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Mor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complex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Result: 12 pag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faults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2331252" y="8190770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31252" y="7012315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31252" y="4669411"/>
            <a:ext cx="357065" cy="357065"/>
            <a:chOff x="0" y="0"/>
            <a:chExt cx="94042" cy="940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31252" y="5845625"/>
            <a:ext cx="357065" cy="357065"/>
            <a:chOff x="0" y="0"/>
            <a:chExt cx="94042" cy="940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31252" y="3493196"/>
            <a:ext cx="357065" cy="357065"/>
            <a:chOff x="0" y="0"/>
            <a:chExt cx="94042" cy="940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011" y="6047021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5897" y="1234299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5" y="0"/>
                </a:lnTo>
                <a:lnTo>
                  <a:pt x="2232435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8919011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OPT?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12502" y="3651597"/>
            <a:ext cx="10624824" cy="47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OPT means Optimal algorithm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emoves the page used last in the future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Gives the best result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 for comparison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131929" y="7348392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31929" y="3807803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31929" y="6189184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31929" y="4998494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01714" y="1326429"/>
            <a:ext cx="11380633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How does OPT work?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7969" y="4011816"/>
            <a:ext cx="12334301" cy="47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Look ahead in the refer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ence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string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eck future usage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Replace the farthest page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Cou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nt p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 faults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802249" y="4179843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02249" y="6540399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2249" y="5337007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02249" y="7694767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8919011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OPT Pros and Cons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83562" y="2791382"/>
            <a:ext cx="10624824" cy="593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Lowest number of page faults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 performance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Cannot be used in real systems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eds future information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Result: 9 page faults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341841" y="7673817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41841" y="5322295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41841" y="4146080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41841" y="6497602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357065" y="4164868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41841" y="2969866"/>
            <a:ext cx="357065" cy="357065"/>
            <a:chOff x="0" y="0"/>
            <a:chExt cx="94042" cy="940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3105150"/>
          <a:ext cx="13509603" cy="6667500"/>
        </p:xfrm>
        <a:graphic>
          <a:graphicData uri="http://schemas.openxmlformats.org/drawingml/2006/table">
            <a:tbl>
              <a:tblPr/>
              <a:tblGrid>
                <a:gridCol w="3377401"/>
                <a:gridCol w="3377401"/>
                <a:gridCol w="3377401"/>
                <a:gridCol w="3377401"/>
              </a:tblGrid>
              <a:tr h="1072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OPT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6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Criteria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6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FIFO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6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LRU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6DD"/>
                    </a:solidFill>
                  </a:tcPr>
                </a:tc>
              </a:tr>
              <a:tr h="14944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Farthest future 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Idea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Oldest 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Least recently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  <a:tr h="1025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Lowest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Page Fault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  <a:tr h="1025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Complexity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Simple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  <a:tr h="1025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Good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  <a:tr h="1025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Theoretical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Usage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Simple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Real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601714" y="1326429"/>
            <a:ext cx="11380633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Comparison of Algorithms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66800"/>
            <a:ext cx="8919011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Key Points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231" y="3307816"/>
            <a:ext cx="10624824" cy="47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FIFO is simple but not very efficient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LRU gives a good balance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OPT is th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b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 but not realistic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RU is commonly used in real systems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2009022" y="6993944"/>
            <a:ext cx="357065" cy="357065"/>
            <a:chOff x="0" y="0"/>
            <a:chExt cx="94042" cy="94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09022" y="5829079"/>
            <a:ext cx="357065" cy="357065"/>
            <a:chOff x="0" y="0"/>
            <a:chExt cx="94042" cy="94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09022" y="4662390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09022" y="3495700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01714" y="1326429"/>
            <a:ext cx="10563715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 of Our Project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7928" y="3415220"/>
            <a:ext cx="13877369" cy="593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OPT algorithm is not practical in real systems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LRU requires extra memory to track usage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program only tests a limited number of cases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Performance evaluation mainly focuses on page faults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detail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 analysis of execution time or memory cost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176976" y="8293137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6976" y="7126448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6976" y="5959758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6976" y="4786435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6976" y="3610221"/>
            <a:ext cx="357065" cy="357065"/>
            <a:chOff x="0" y="0"/>
            <a:chExt cx="94042" cy="940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66800"/>
            <a:ext cx="8919011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Lessons Learned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7416" y="3127232"/>
            <a:ext cx="14482493" cy="593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Choosing the right algorithm greatly affects performance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Simple algorithms are easy but not always efficient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Tracking usage helps reduce unnecessary page faults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Testing with different inputs gives better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understanding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Teamwork help</a:t>
            </a:r>
            <a:r>
              <a:rPr lang="en-US" sz="383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 us complete different parts effectively</a:t>
            </a:r>
          </a:p>
          <a:p>
            <a:pPr algn="l">
              <a:lnSpc>
                <a:spcPts val="468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1592" y="8012502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1592" y="6832509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1592" y="5656295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1592" y="4480080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1592" y="3303865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015" y="343229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04475" y="-263831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72670" y="2804647"/>
            <a:ext cx="11085997" cy="702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this project, we studied and tested three page replacement algorithms.</a:t>
            </a:r>
          </a:p>
          <a:p>
            <a:pPr algn="l">
              <a:lnSpc>
                <a:spcPts val="4684"/>
              </a:lnSpc>
            </a:pP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Each one has different strengths:</a:t>
            </a:r>
          </a:p>
          <a:p>
            <a:pPr algn="l" marL="829056" indent="-414528" lvl="1">
              <a:lnSpc>
                <a:spcPts val="4684"/>
              </a:lnSpc>
              <a:buFont typeface="Arial"/>
              <a:buChar char="•"/>
            </a:pP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FIFO is simple and easy to use</a:t>
            </a:r>
          </a:p>
          <a:p>
            <a:pPr algn="l" marL="829056" indent="-414528" lvl="1">
              <a:lnSpc>
                <a:spcPts val="4684"/>
              </a:lnSpc>
              <a:buFont typeface="Arial"/>
              <a:buChar char="•"/>
            </a:pP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LRU gives better practical performance</a:t>
            </a:r>
          </a:p>
          <a:p>
            <a:pPr algn="l" marL="829056" indent="-414528" lvl="1">
              <a:lnSpc>
                <a:spcPts val="4684"/>
              </a:lnSpc>
              <a:buFont typeface="Arial"/>
              <a:buChar char="•"/>
            </a:pP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OPT gives the best result in theory</a:t>
            </a:r>
          </a:p>
          <a:p>
            <a:pPr algn="l">
              <a:lnSpc>
                <a:spcPts val="4684"/>
              </a:lnSpc>
            </a:pP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From th</a:t>
            </a:r>
            <a:r>
              <a:rPr lang="en-US" sz="3840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test</a:t>
            </a:r>
            <a:r>
              <a:rPr lang="en-US" sz="3840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results, choosi</a:t>
            </a:r>
            <a:r>
              <a:rPr lang="en-US" sz="3840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ng the right algorithm can improve memory performance a lot.</a:t>
            </a:r>
          </a:p>
          <a:p>
            <a:pPr algn="l">
              <a:lnSpc>
                <a:spcPts val="390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747602" y="2978900"/>
            <a:ext cx="357065" cy="357065"/>
            <a:chOff x="0" y="0"/>
            <a:chExt cx="94042" cy="940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7602" y="4724825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7602" y="7693756"/>
            <a:ext cx="357065" cy="357065"/>
            <a:chOff x="0" y="0"/>
            <a:chExt cx="94042" cy="940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01714" y="1326429"/>
            <a:ext cx="10563715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588548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3611" y="3404967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79996" y="4340434"/>
            <a:ext cx="357065" cy="357065"/>
            <a:chOff x="0" y="0"/>
            <a:chExt cx="94042" cy="94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84827" y="4185156"/>
            <a:ext cx="12749838" cy="357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project can be improved by</a:t>
            </a:r>
            <a:r>
              <a:rPr lang="en-US" sz="3840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</a:t>
            </a:r>
          </a:p>
          <a:p>
            <a:pPr algn="l" marL="829056" indent="-414528" lvl="1">
              <a:lnSpc>
                <a:spcPts val="4684"/>
              </a:lnSpc>
              <a:buFont typeface="Arial"/>
              <a:buChar char="•"/>
            </a:pP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</a:t>
            </a: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dding</a:t>
            </a: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more algorithms such as LFU or Clock</a:t>
            </a:r>
          </a:p>
          <a:p>
            <a:pPr algn="l" marL="829056" indent="-414528" lvl="1">
              <a:lnSpc>
                <a:spcPts val="4684"/>
              </a:lnSpc>
              <a:buFont typeface="Arial"/>
              <a:buChar char="•"/>
            </a:pP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Making a better GUI</a:t>
            </a:r>
          </a:p>
          <a:p>
            <a:pPr algn="l" marL="829056" indent="-414528" lvl="1">
              <a:lnSpc>
                <a:spcPts val="4684"/>
              </a:lnSpc>
              <a:buFont typeface="Arial"/>
              <a:buChar char="•"/>
            </a:pP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Letting users enter custom data</a:t>
            </a:r>
          </a:p>
          <a:p>
            <a:pPr algn="l" marL="829056" indent="-414528" lvl="1">
              <a:lnSpc>
                <a:spcPts val="4684"/>
              </a:lnSpc>
              <a:buFont typeface="Arial"/>
              <a:buChar char="•"/>
            </a:pPr>
            <a:r>
              <a:rPr lang="en-US" b="true" sz="384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Measuring running time and memory use</a:t>
            </a:r>
          </a:p>
          <a:p>
            <a:pPr algn="l">
              <a:lnSpc>
                <a:spcPts val="468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66800"/>
            <a:ext cx="8919011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DAHHBAtcm8I</dc:identifier>
  <dcterms:modified xsi:type="dcterms:W3CDTF">2011-08-01T06:04:30Z</dcterms:modified>
  <cp:revision>1</cp:revision>
  <dc:title>Group 5_HĐH</dc:title>
</cp:coreProperties>
</file>