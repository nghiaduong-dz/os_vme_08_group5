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Be Vietnam Ultra-Bold" charset="1" panose="00000900000000000000"/>
      <p:regular r:id="rId29"/>
    </p:embeddedFont>
    <p:embeddedFont>
      <p:font typeface="Be Vietnam Medium" charset="1" panose="00000600000000000000"/>
      <p:regular r:id="rId30"/>
    </p:embeddedFont>
    <p:embeddedFont>
      <p:font typeface="Be Vietnam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55" y="709283"/>
            <a:ext cx="18939059" cy="2830224"/>
            <a:chOff x="0" y="0"/>
            <a:chExt cx="4988065" cy="74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065" cy="745409"/>
            </a:xfrm>
            <a:custGeom>
              <a:avLst/>
              <a:gdLst/>
              <a:ahLst/>
              <a:cxnLst/>
              <a:rect r="r" b="b" t="t" l="l"/>
              <a:pathLst>
                <a:path h="74540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745409"/>
                  </a:lnTo>
                  <a:lnTo>
                    <a:pt x="0" y="74540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988065" cy="716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56933" y="170945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417225" y="6172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04501" y="1212325"/>
            <a:ext cx="7862350" cy="7862350"/>
          </a:xfrm>
          <a:custGeom>
            <a:avLst/>
            <a:gdLst/>
            <a:ahLst/>
            <a:cxnLst/>
            <a:rect r="r" b="b" t="t" l="l"/>
            <a:pathLst>
              <a:path h="7862350" w="7862350">
                <a:moveTo>
                  <a:pt x="0" y="0"/>
                </a:moveTo>
                <a:lnTo>
                  <a:pt x="7862350" y="0"/>
                </a:lnTo>
                <a:lnTo>
                  <a:pt x="7862350" y="7862350"/>
                </a:lnTo>
                <a:lnTo>
                  <a:pt x="0" y="7862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10810" y="-155024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2540" y="737858"/>
            <a:ext cx="11924685" cy="265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3"/>
              </a:lnSpc>
            </a:pPr>
            <a:r>
              <a:rPr lang="en-US" sz="6464" b="true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Virtual Memory Page Replacement Simulator</a:t>
            </a:r>
          </a:p>
          <a:p>
            <a:pPr algn="l">
              <a:lnSpc>
                <a:spcPts val="6723"/>
              </a:lnSpc>
              <a:spcBef>
                <a:spcPct val="0"/>
              </a:spcBef>
            </a:pPr>
            <a:r>
              <a:rPr lang="en-US" b="true" sz="6464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(FIFO, LRU, OPT)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263774" y="-84203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2445" y="4101069"/>
            <a:ext cx="10690184" cy="447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Môn học: Hệ điều hành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Nhóm 5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Trường Đại học Giao thông Vận tải TP.HCM</a:t>
            </a:r>
          </a:p>
          <a:p>
            <a:pPr algn="l">
              <a:lnSpc>
                <a:spcPts val="5921"/>
              </a:lnSpc>
            </a:pPr>
            <a:r>
              <a:rPr lang="en-US" sz="5693" b="true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Giảng viên: Mai Ngọc Châu</a:t>
            </a:r>
          </a:p>
          <a:p>
            <a:pPr algn="l">
              <a:lnSpc>
                <a:spcPts val="5921"/>
              </a:lnSpc>
              <a:spcBef>
                <a:spcPct val="0"/>
              </a:spcBef>
            </a:pPr>
            <a:r>
              <a:rPr lang="en-US" b="true" sz="5693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Tháng 4 năm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5531" y="163854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3679" y="1123950"/>
            <a:ext cx="7900642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Thành viên nhóm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8650" y="5370565"/>
            <a:ext cx="5163575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Kim Nhựt Hoàng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0846" y="2977786"/>
            <a:ext cx="5451009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Dương Trọng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Ng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hĩa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6999" y="7763344"/>
            <a:ext cx="6298183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Nguyễn Thị Xuân Tuyền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6999" y="5370565"/>
            <a:ext cx="4543322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Phan Đình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P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hát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8650" y="7763344"/>
            <a:ext cx="4376913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Đỗ Minh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T</a:t>
            </a: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huận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48650" y="2979000"/>
            <a:ext cx="5617418" cy="56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663" indent="-392832" lvl="1">
              <a:lnSpc>
                <a:spcPts val="4439"/>
              </a:lnSpc>
              <a:buAutoNum type="arabicPeriod" startAt="1"/>
            </a:pPr>
            <a:r>
              <a:rPr lang="en-US" b="true" sz="36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Nguyễn Thanh Tuấn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6423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158001" y="6463808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49984" y="3988327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49984" y="5143500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49984" y="7520351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87355" y="3871026"/>
            <a:ext cx="10201237" cy="41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Đôi khi RAM không đủ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Chươn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g trình có thể quá lớn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Bộ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nhớ ảo giúp giải quyết vấn đề này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Giúp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hệ thống chạy mượt hơn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1714" y="997179"/>
            <a:ext cx="8542286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Giới thiệu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9984" y="2543324"/>
            <a:ext cx="10631481" cy="74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</a:pPr>
            <a:r>
              <a:rPr lang="en-US" sz="4851" b="true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Tại sao cần bộ nhớ ảo?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49984" y="6363186"/>
            <a:ext cx="357065" cy="357065"/>
            <a:chOff x="0" y="0"/>
            <a:chExt cx="94042" cy="940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45531" y="163854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5721" y="3676707"/>
            <a:ext cx="13254716" cy="589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Chương trình cần nhiều bộ nhớ hơn khả năng hiện có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iếu trang → xảy ra lỗi trang (page fault)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Bộ nhớ bị giới hạn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Cần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một cách để thay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thế các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10756361" cy="166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Chúng ta đang giải quyết vấn đề gì?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27207" y="3831319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0967" y="4998008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967" y="7336513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0967" y="6167261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26134" y="412739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26134" y="6481662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26134" y="5305447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6134" y="7691482"/>
            <a:ext cx="357065" cy="357065"/>
            <a:chOff x="0" y="0"/>
            <a:chExt cx="94042" cy="94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536389" y="4007594"/>
            <a:ext cx="11256216" cy="53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Là cách mở rộng RAM bằng cách dùng ổ đĩa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Chỉ tải những trang cần thiết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Tiết kiệm không gian bộ nhớ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Giú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p chạy nhiều chương trình cùng lúc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383579"/>
            <a:ext cx="10471955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Bộ nhớ ảo là gì?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7584" y="3074840"/>
            <a:ext cx="10842186" cy="53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Xảy ra khi trang không có trong RAM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Hệ thống phải tải từ ổ đĩa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Tốn thêm thời gian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Quá nhiều lỗi trang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sẽ làm chậm hệ thống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98726" y="3239460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98726" y="4397827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98726" y="5556195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98726" y="6777497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1123950"/>
            <a:ext cx="11801299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Lỗi trang (Page Fault) là gì?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40165" y="3929621"/>
            <a:ext cx="9823034" cy="41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FIFO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LRU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OPT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Mục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tiêu: giảm số lỗi trang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92214" y="4049916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92214" y="5272656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92214" y="6438607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92214" y="7604558"/>
            <a:ext cx="357065" cy="357065"/>
            <a:chOff x="0" y="0"/>
            <a:chExt cx="94042" cy="940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1714" y="1383579"/>
            <a:ext cx="11380633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Các thuật toán sử dụng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45095" y="3497859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123950"/>
            <a:ext cx="7724232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FIFO là gì?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0965" y="3394422"/>
            <a:ext cx="9823034" cy="471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FIFO = Vào trước ra trước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</a:t>
            </a: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Trang vào sớm nhất sẽ bị loại bỏ trước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Hoạt động như hàng đợi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Ý tưởng rất đơn giản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45095" y="7054229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5095" y="4682749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45095" y="5868489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83579"/>
            <a:ext cx="12097224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FIFO hoạt động như thế nào?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4781" y="3953101"/>
            <a:ext cx="10897130" cy="53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Thêm các trang lần lượt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Khi bộ n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hớ đầ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y → loại trang cũ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Thêm trang mới vào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Đếm số 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159313" y="4049916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59313" y="523190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9313" y="6427168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59313" y="7623508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11325397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Ưu và nhược điểm của FIFO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31063" y="3068457"/>
            <a:ext cx="9823034" cy="648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Ưu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Dễ cài đặt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Tốn ít tài nguyên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Nhược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Có thể loại bỏ trang quan trọng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Thường có nhiều 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Kết quả: 15 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977258" y="7939683"/>
            <a:ext cx="357065" cy="357065"/>
            <a:chOff x="0" y="0"/>
            <a:chExt cx="94042" cy="94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77258" y="3198270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7258" y="5569749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83579"/>
            <a:ext cx="11380633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LRU là gì?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6944" y="3689697"/>
            <a:ext cx="12334301" cy="471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LRU = Ít được sử dụng gần đây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Loại bỏ trang lâu không được dùng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Dựa vào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hoạt động gần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Thông minh hơn FIFO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629696" y="3766424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9696" y="497121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9696" y="6172725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29696" y="7380482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1657526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LRU hoạt động như thế nào?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2758" y="3420032"/>
            <a:ext cx="9823034" cy="41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Theo dõi thời điểm sử dụng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Tìm trang lâu nhất chưa dùng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ay thế trang đó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Cậ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p nhật sau mỗi bước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65293" y="5914617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65293" y="7077944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65293" y="3561423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65293" y="4786435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1714" y="1383579"/>
            <a:ext cx="11380633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Ưu và nhược điểm của LRU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63778" y="3362551"/>
            <a:ext cx="12334301" cy="648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>
                <a:solidFill>
                  <a:srgbClr val="063050"/>
                </a:solidFill>
                <a:latin typeface="Be Vietnam"/>
                <a:ea typeface="Be Vietnam"/>
                <a:cs typeface="Be Vietnam"/>
                <a:sym typeface="Be Vietnam"/>
              </a:rPr>
              <a:t>Ưu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Ít lỗi trang hơn FIFO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Sử dụng bộ nhớ hiệu quả hơn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Nhược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Cần theo dõi thêm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Phức tạp hơn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Kế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 quả: 12 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331252" y="8190770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31252" y="5845625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1252" y="3493196"/>
            <a:ext cx="357065" cy="357065"/>
            <a:chOff x="0" y="0"/>
            <a:chExt cx="94042" cy="940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011" y="6047021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897" y="1234299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5" y="0"/>
                </a:lnTo>
                <a:lnTo>
                  <a:pt x="2232435" y="2263560"/>
                </a:lnTo>
                <a:lnTo>
                  <a:pt x="0" y="226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8919011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OPT là gì?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2502" y="3689697"/>
            <a:ext cx="11930612" cy="471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OPT = Thuật toán tối ưu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Loại bỏ trang được dùng xa nhất trong tương lai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Cho kết quả tốt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Dùng để so sánh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131929" y="734839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31929" y="3807803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31929" y="6189184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31929" y="4998494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01714" y="1383579"/>
            <a:ext cx="11380633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OPT hoạt động như thế nào?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7969" y="4049916"/>
            <a:ext cx="12334301" cy="412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Nhìn trước chuỗi tham 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chiếu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Kiểm tra việc sử dụng trong tương lai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Thay trang xa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Đếm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lỗi trang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02249" y="4179843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2249" y="6540399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2249" y="5337007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2249" y="7694767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1275799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Ưu và nhược điểm của OPT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3562" y="2829482"/>
            <a:ext cx="10624824" cy="648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>
                <a:solidFill>
                  <a:srgbClr val="063050"/>
                </a:solidFill>
                <a:latin typeface="Be Vietnam"/>
                <a:ea typeface="Be Vietnam"/>
                <a:cs typeface="Be Vietnam"/>
                <a:sym typeface="Be Vietnam"/>
              </a:rPr>
              <a:t>Ưu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Ít lỗi trang nhất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Hiệu suất tốt nhất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Nhược điểm: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Không dùng được trong thực tế</a:t>
            </a:r>
          </a:p>
          <a:p>
            <a:pPr algn="l" marL="828842" indent="-414421" lvl="1">
              <a:lnSpc>
                <a:spcPts val="4683"/>
              </a:lnSpc>
              <a:buFont typeface="Arial"/>
              <a:buChar char="•"/>
            </a:pPr>
            <a:r>
              <a:rPr lang="en-US" b="true" sz="3839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Cần biết trước tương lai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Kế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 quả: 9 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341841" y="7673817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1841" y="5322295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57065" y="4164868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41841" y="2969866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3105150"/>
          <a:ext cx="15038331" cy="6229350"/>
        </p:xfrm>
        <a:graphic>
          <a:graphicData uri="http://schemas.openxmlformats.org/drawingml/2006/table">
            <a:tbl>
              <a:tblPr/>
              <a:tblGrid>
                <a:gridCol w="3540068"/>
                <a:gridCol w="3540068"/>
                <a:gridCol w="3540068"/>
                <a:gridCol w="4418126"/>
              </a:tblGrid>
              <a:tr h="11021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OPT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Tiêu chí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FIFO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LRU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6DD"/>
                    </a:solidFill>
                  </a:tcPr>
                </a:tc>
              </a:tr>
              <a:tr h="10254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xa nhất trong tương lai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Ý tưởng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cũ nhất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ít dùng gần đây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4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thấp nhất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Lỗi trang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cao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trung bình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4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cao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Độ phức tạp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thấp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trung bình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4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tốt nhất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Hiệu năng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thấp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tốt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  <a:tr h="10254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lý thuyết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Ứng dụng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hệ đơn giản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Be Vietnam"/>
                          <a:ea typeface="Be Vietnam"/>
                          <a:cs typeface="Be Vietnam"/>
                          <a:sym typeface="Be Vietnam"/>
                        </a:rPr>
                        <a:t>hệ thực tế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F7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601714" y="1383579"/>
            <a:ext cx="11380633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So sánh các thuật toán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8919011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Điểm chính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90231" y="3345916"/>
            <a:ext cx="10624824" cy="471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FIFO đơn giản nhưng kém hiệu quả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LRU cân bằng tốt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OPT tốt nhất nhưng không thực tế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RU được dùng nhiều trong hệ thống</a:t>
            </a: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2009022" y="6993944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09022" y="5829079"/>
            <a:ext cx="357065" cy="357065"/>
            <a:chOff x="0" y="0"/>
            <a:chExt cx="94042" cy="94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09022" y="4662390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09022" y="3495700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1714" y="1383579"/>
            <a:ext cx="10563715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Hạn chế của đề tài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157493" y="677749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4" y="0"/>
                </a:lnTo>
                <a:lnTo>
                  <a:pt x="4313284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27928" y="3453320"/>
            <a:ext cx="13877369" cy="648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OPT không dùng được trong thực tế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LRU cần thêm bộ nhớ để theo dõi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Chỉ test số lượng trường hợp hạn chế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Chỉ đánh giá dựa và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 lỗi</a:t>
            </a: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Chưa phân tích thời gian và chi phí bộ nhớ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76976" y="8293137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6976" y="7126448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6976" y="5959758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6976" y="4786435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6976" y="3610221"/>
            <a:ext cx="357065" cy="357065"/>
            <a:chOff x="0" y="0"/>
            <a:chExt cx="94042" cy="94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8919011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Bài học kinh nghiệm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7416" y="3165332"/>
            <a:ext cx="14482493" cy="53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Chọn thuật toán ảnh hưởng lớn đến hiệu năng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Thuật toán đơn giản không phải lúc nào cũng tốt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Theo dõi usage giúp giảm lỗi trang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Test nhiều dữ liệu giúp hiểu rõ hơn</a:t>
            </a:r>
          </a:p>
          <a:p>
            <a:pPr algn="l">
              <a:lnSpc>
                <a:spcPts val="4683"/>
              </a:lnSpc>
            </a:pPr>
          </a:p>
          <a:p>
            <a:pPr algn="l">
              <a:lnSpc>
                <a:spcPts val="4683"/>
              </a:lnSpc>
            </a:pPr>
            <a:r>
              <a:rPr lang="en-US" sz="3839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Làm việc nhóm giúp hoàn thành tốt hơn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1592" y="8012502"/>
            <a:ext cx="357065" cy="357065"/>
            <a:chOff x="0" y="0"/>
            <a:chExt cx="94042" cy="940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1592" y="6832509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1592" y="5656295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1592" y="4480080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1592" y="3303865"/>
            <a:ext cx="357065" cy="357065"/>
            <a:chOff x="0" y="0"/>
            <a:chExt cx="94042" cy="94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015" y="343229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4475" y="-263831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2670" y="3447471"/>
            <a:ext cx="12805816" cy="581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Trong dự án này, nhóm đã nghiên cứu và thử nghiệm 3 thuật toán thay thế trang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FIFO: đơn giản, dễ dùng</a:t>
            </a: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LRU: hiệu quả thực tế tốt</a:t>
            </a: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OPT: tốt nhất về lý thuyết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Kết quả ch</a:t>
            </a: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o thấy chọn đú</a:t>
            </a: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ng thuật toán giúp cải thiện hiệu năng bộ nhớ đáng kể</a:t>
            </a:r>
          </a:p>
          <a:p>
            <a:pPr algn="l">
              <a:lnSpc>
                <a:spcPts val="390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747602" y="3614544"/>
            <a:ext cx="357065" cy="357065"/>
            <a:chOff x="0" y="0"/>
            <a:chExt cx="94042" cy="940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7602" y="5352733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7602" y="7725605"/>
            <a:ext cx="357065" cy="357065"/>
            <a:chOff x="0" y="0"/>
            <a:chExt cx="94042" cy="94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1028700"/>
            <a:ext cx="18288000" cy="1464829"/>
            <a:chOff x="0" y="0"/>
            <a:chExt cx="4816593" cy="3857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385799"/>
            </a:xfrm>
            <a:custGeom>
              <a:avLst/>
              <a:gdLst/>
              <a:ahLst/>
              <a:cxnLst/>
              <a:rect r="r" b="b" t="t" l="l"/>
              <a:pathLst>
                <a:path h="385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816593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01714" y="1383579"/>
            <a:ext cx="10563715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Kết luận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88548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3611" y="3404967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2452" y="7063479"/>
            <a:ext cx="357065" cy="357065"/>
            <a:chOff x="0" y="0"/>
            <a:chExt cx="94042" cy="94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69081" y="3395442"/>
            <a:ext cx="12749838" cy="5314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Thêm thuật toán (LFU, Clock)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Cải thiện giao diện (GUI)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Cho phép nhập dữ liệu tùy chỉnh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  <a:r>
              <a:rPr lang="en-US" sz="3840" b="true">
                <a:solidFill>
                  <a:srgbClr val="06305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Đo thời gian chạy và bộ nhớ</a:t>
            </a:r>
          </a:p>
          <a:p>
            <a:pPr algn="l">
              <a:lnSpc>
                <a:spcPts val="4684"/>
              </a:lnSpc>
            </a:pPr>
          </a:p>
          <a:p>
            <a:pPr algn="l">
              <a:lnSpc>
                <a:spcPts val="468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23950"/>
            <a:ext cx="8919011" cy="85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Hướng phát triển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192452" y="5879033"/>
            <a:ext cx="357065" cy="357065"/>
            <a:chOff x="0" y="0"/>
            <a:chExt cx="94042" cy="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92452" y="4697498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92452" y="3511759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DAHHBAtcm8I</dc:identifier>
  <dcterms:modified xsi:type="dcterms:W3CDTF">2011-08-01T06:04:30Z</dcterms:modified>
  <cp:revision>1</cp:revision>
  <dc:title>Group 5_HĐH</dc:title>
</cp:coreProperties>
</file>